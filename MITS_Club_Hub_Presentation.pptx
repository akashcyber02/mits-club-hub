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97280" cy="109728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685800"/>
            <a:ext cx="9418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MITS CLUB HUB</a:t>
            </a:r>
          </a:p>
          <a:p>
            <a:pPr>
              <a:defRPr sz="1300">
                <a:solidFill>
                  <a:srgbClr val="38BDF8"/>
                </a:solidFill>
                <a:latin typeface="Arial"/>
              </a:defRPr>
            </a:pPr>
            <a:r>
              <a:t>The Centralized Digital Ecosystem for Student Clubs, Recruitment Pipelines, 2FA Security &amp; Faculty Approvals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6675120" cy="402336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621792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👥  ENGINEERING TEAM (1st Year AI)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43200"/>
            <a:ext cx="6217920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Akash Dhakad (Lead Architect):</a:t>
            </a:r>
            <a:r>
              <a:rPr sz="1000">
                <a:solidFill>
                  <a:srgbClr val="CBD5E1"/>
                </a:solidFill>
              </a:rPr>
              <a:t> Core Architecture, @mitsgwl.ac.in Domain RBAC, Firebase Phone 2FA OTP, SPA Routing, Cloud Firestore.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Alok Mahor (Core Contributor):</a:t>
            </a:r>
            <a:r>
              <a:rPr sz="1000">
                <a:solidFill>
                  <a:srgbClr val="CBD5E1"/>
                </a:solidFill>
              </a:rPr>
              <a:t> 10+ Club Field Research (Aerospace, Scavengers, Querecia, ISTE), 3D Multi-Filter Console, Showcase UI.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Aman Singh (Core Contributor):</a:t>
            </a:r>
            <a:r>
              <a:rPr sz="1000">
                <a:solidFill>
                  <a:srgbClr val="CBD5E1"/>
                </a:solidFill>
              </a:rPr>
              <a:t> Student Recruitment Pipeline, Membership Applications, President Operations Center &amp; Leadership Handover.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Akash Gupta (Core Contributor):</a:t>
            </a:r>
            <a:r>
              <a:rPr sz="1000">
                <a:solidFill>
                  <a:srgbClr val="CBD5E1"/>
                </a:solidFill>
              </a:rPr>
              <a:t> Faculty Coordinator Approval Workflow, Multi-Channel Mentor Notification Dispatcher, Contact Sheet.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2103120"/>
            <a:ext cx="3779215" cy="402336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286000"/>
            <a:ext cx="3322015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🎓  ACADEMIC SUPERVISION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743200"/>
            <a:ext cx="3322015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Institution:</a:t>
            </a:r>
            <a:r>
              <a:rPr sz="1000">
                <a:solidFill>
                  <a:srgbClr val="CBD5E1"/>
                </a:solidFill>
              </a:rPr>
              <a:t> Madhav Institute of Technology &amp; Science, Gwalior (Deemed University)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Department:</a:t>
            </a:r>
            <a:r>
              <a:rPr sz="1000">
                <a:solidFill>
                  <a:srgbClr val="CBD5E1"/>
                </a:solidFill>
              </a:rPr>
              <a:t> Department of Artificial Intelligence &amp; Data Science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Faculty Mentor:</a:t>
            </a:r>
            <a:r>
              <a:rPr sz="1000">
                <a:solidFill>
                  <a:srgbClr val="CBD5E1"/>
                </a:solidFill>
              </a:rPr>
              <a:t> Prof. [ ________________________ ]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Designation:</a:t>
            </a:r>
            <a:r>
              <a:rPr sz="1000">
                <a:solidFill>
                  <a:srgbClr val="CBD5E1"/>
                </a:solidFill>
              </a:rPr>
              <a:t> Assistant / Associate Professor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Head of Dept (HOD):</a:t>
            </a:r>
            <a:r>
              <a:rPr sz="1000">
                <a:solidFill>
                  <a:srgbClr val="CBD5E1"/>
                </a:solidFill>
              </a:rPr>
              <a:t> Dr. [ ________________________ ]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Academic Session:</a:t>
            </a:r>
            <a:r>
              <a:rPr sz="1000">
                <a:solidFill>
                  <a:srgbClr val="CBD5E1"/>
                </a:solidFill>
              </a:rPr>
              <a:t> 2026 – 2027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Live Deployment:</a:t>
            </a:r>
            <a:r>
              <a:rPr sz="1000">
                <a:solidFill>
                  <a:srgbClr val="CBD5E1"/>
                </a:solidFill>
              </a:rPr>
              <a:t> mits-gwl-club-hub.netlify.app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Custom Domain:</a:t>
            </a:r>
            <a:r>
              <a:rPr sz="1000">
                <a:solidFill>
                  <a:srgbClr val="CBD5E1"/>
                </a:solidFill>
              </a:rPr>
              <a:t> mitsgwlclubhub.com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MITS CLUB HUB • Madhav Institute of Technology &amp; Science, Gwalior (Deemed University) • mitsgwlclubhub.com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[PROBLEM &amp; MOTIVATION]  </a:t>
            </a:r>
            <a:r>
              <a:rPr sz="1000" b="1">
                <a:solidFill>
                  <a:srgbClr val="A855F7"/>
                </a:solidFill>
                <a:latin typeface="Arial"/>
              </a:rPr>
              <a:t>🎙️ Presenter: Joint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Campus Life Fragmentation vs Centralized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Why 5,000+ MITSians needed a single authoritative digital home for student activities.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94A3B8"/>
                </a:solidFill>
                <a:latin typeface="Arial"/>
              </a:defRPr>
            </a:pPr>
            <a:r>
              <a:t>Slide 02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2D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7548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❌  The Traditional Campus Chaos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4754880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Scattered WhatsApp Groups:</a:t>
            </a:r>
            <a:r>
              <a:rPr sz="1050">
                <a:solidFill>
                  <a:srgbClr val="CBD5E1"/>
                </a:solidFill>
              </a:rPr>
              <a:t> Vital recruitment deadlines and event posters get buried under thousands of informal group chats.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Unverified Registrations:</a:t>
            </a:r>
            <a:r>
              <a:rPr sz="1050">
                <a:solidFill>
                  <a:srgbClr val="CBD5E1"/>
                </a:solidFill>
              </a:rPr>
              <a:t> Any individual could distribute unauthorized Google Forms or solicit club fees without college consent.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Zero Faculty Oversight:</a:t>
            </a:r>
            <a:r>
              <a:rPr sz="1050">
                <a:solidFill>
                  <a:srgbClr val="CBD5E1"/>
                </a:solidFill>
              </a:rPr>
              <a:t> Faculty coordinators lacked a dedicated dashboard to audit club rosters, finances, or annual calendars.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Loss of Institutional Legacy:</a:t>
            </a:r>
            <a:r>
              <a:rPr sz="1050">
                <a:solidFill>
                  <a:srgbClr val="CBD5E1"/>
                </a:solidFill>
              </a:rPr>
              <a:t> When seniors graduate, club social media handles, archives, and historical records vanish.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High Freshers Friction:</a:t>
            </a:r>
            <a:r>
              <a:rPr sz="1050">
                <a:solidFill>
                  <a:srgbClr val="CBD5E1"/>
                </a:solidFill>
              </a:rPr>
              <a:t> First-year students struggle to identify genuine, active clubs aligned with their career ambitions.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11680"/>
            <a:ext cx="47548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✅  The MITS Club Hub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68880"/>
            <a:ext cx="4754880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Strict College Authentication:</a:t>
            </a:r>
            <a:r>
              <a:rPr sz="1050">
                <a:solidFill>
                  <a:srgbClr val="CBD5E1"/>
                </a:solidFill>
              </a:rPr>
              <a:t> Mandatory Google OAuth domain-locked strictly to @mitsgwl.ac.in credentials.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Physical 2FA Phone Verification:</a:t>
            </a:r>
            <a:r>
              <a:rPr sz="1050">
                <a:solidFill>
                  <a:srgbClr val="CBD5E1"/>
                </a:solidFill>
              </a:rPr>
              <a:t> Real telecom SMS OTP verification protects student leadership contact channels.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Official Professor Approvals Queue:</a:t>
            </a:r>
            <a:r>
              <a:rPr sz="1050">
                <a:solidFill>
                  <a:srgbClr val="CBD5E1"/>
                </a:solidFill>
              </a:rPr>
              <a:t> Every student club must receive explicit faculty authorization before going live.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Structured Recruitment Engine:</a:t>
            </a:r>
            <a:r>
              <a:rPr sz="1050">
                <a:solidFill>
                  <a:srgbClr val="CBD5E1"/>
                </a:solidFill>
              </a:rPr>
              <a:t> Replaces Google Forms with standardized applications, portfolio links, and countdown timers.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Permanent Digital Archive:</a:t>
            </a:r>
            <a:r>
              <a:rPr sz="1050">
                <a:solidFill>
                  <a:srgbClr val="CBD5E1"/>
                </a:solidFill>
              </a:rPr>
              <a:t> Historical leader rosters, high-res achievement galleries, and centralized leadership handover.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MITS CLUB HUB • Madhav Institute of Technology &amp; Science, Gwalior (Deemed University) • mitsgwlclubhub.com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[ARCHITECTURE &amp; STACK]  </a:t>
            </a:r>
            <a:r>
              <a:rPr sz="1000" b="1">
                <a:solidFill>
                  <a:srgbClr val="A855F7"/>
                </a:solidFill>
                <a:latin typeface="Arial"/>
              </a:rPr>
              <a:t>🎙️ Presenter: Akash Dhakad (Lead Architect)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Modern Serverless Cloud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High performance, zero maintenance, real-time reactive cloud infrastructure.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94A3B8"/>
                </a:solidFill>
                <a:latin typeface="Arial"/>
              </a:defRPr>
            </a:pPr>
            <a:r>
              <a:t>Slide 03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2D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7548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⚙️  Full-Stack Technical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4754880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Frontend Engine:</a:t>
            </a:r>
            <a:r>
              <a:rPr sz="1000">
                <a:solidFill>
                  <a:srgbClr val="CBD5E1"/>
                </a:solidFill>
              </a:rPr>
              <a:t> HTML5 Semantic SPA, CSS3 Glassmorphism variables, Vanilla ES2022 JavaScript (Zero heavy framework bloat).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Authentication Layer:</a:t>
            </a:r>
            <a:r>
              <a:rPr sz="1000">
                <a:solidFill>
                  <a:srgbClr val="CBD5E1"/>
                </a:solidFill>
              </a:rPr>
              <a:t> Firebase v10 Google OAuth domain-restricted to @mitsgwl.ac.in college accounts.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Real-Time Database:</a:t>
            </a:r>
            <a:r>
              <a:rPr sz="1000">
                <a:solidFill>
                  <a:srgbClr val="CBD5E1"/>
                </a:solidFill>
              </a:rPr>
              <a:t> Google Cloud Firestore with real-time WebSocket onSnapshot state synchronizers (&lt;100ms latency).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SMS Telecom Gateway:</a:t>
            </a:r>
            <a:r>
              <a:rPr sz="1000">
                <a:solidFill>
                  <a:srgbClr val="CBD5E1"/>
                </a:solidFill>
              </a:rPr>
              <a:t> Firebase Phone Authentication with Invisible Google reCAPTCHA and E.164 routing.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Hosting &amp; Edge CDN:</a:t>
            </a:r>
            <a:r>
              <a:rPr sz="1000">
                <a:solidFill>
                  <a:srgbClr val="CBD5E1"/>
                </a:solidFill>
              </a:rPr>
              <a:t> Netlify Global Edge CDN mirrored with automated GitHub Actions CI/CD pipeline.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Security Engine:</a:t>
            </a:r>
            <a:r>
              <a:rPr sz="1000">
                <a:solidFill>
                  <a:srgbClr val="CBD5E1"/>
                </a:solidFill>
              </a:rPr>
              <a:t> Cloud Firestore Security Rules validating token claims and preventing unauthorized mutations.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11680"/>
            <a:ext cx="47548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🏛️  Three-Tier Architectural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68880"/>
            <a:ext cx="4754880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Tier 1 - Presentation Layer:</a:t>
            </a:r>
            <a:r>
              <a:rPr sz="1000">
                <a:solidFill>
                  <a:srgbClr val="CBD5E1"/>
                </a:solidFill>
              </a:rPr>
              <a:t> Responsive 3D Glassmorphism UI, Dark/Light theme toggle, SPA hash-router (#club/id, #developer).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Tier 2 - Security &amp; Logic Layer:</a:t>
            </a:r>
            <a:r>
              <a:rPr sz="1000">
                <a:solidFill>
                  <a:srgbClr val="CBD5E1"/>
                </a:solidFill>
              </a:rPr>
              <a:t> Domain verification gatekeeper, physical 2FA SMS engine, multi-role RBAC authorization matrix.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Tier 3 - Cloud Data Layer:</a:t>
            </a:r>
            <a:r>
              <a:rPr sz="1000">
                <a:solidFill>
                  <a:srgbClr val="CBD5E1"/>
                </a:solidFill>
              </a:rPr>
              <a:t> Cloud Firestore reactive documents, real-time collections (clubs, users, applications).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Edge Infrastructure:</a:t>
            </a:r>
            <a:r>
              <a:rPr sz="1000">
                <a:solidFill>
                  <a:srgbClr val="CBD5E1"/>
                </a:solidFill>
              </a:rPr>
              <a:t> Zero cold-start latency; cached assets serve in &lt;800ms across campus mobile devices.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Scalability:</a:t>
            </a:r>
            <a:r>
              <a:rPr sz="1000">
                <a:solidFill>
                  <a:srgbClr val="CBD5E1"/>
                </a:solidFill>
              </a:rPr>
              <a:t> Serverless model effortlessly accommodates 5,000+ simultaneous students during college fest registrations.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MITS CLUB HUB • Madhav Institute of Technology &amp; Science, Gwalior (Deemed University) • mitsgwlclubhub.com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[SECURITY &amp; AUTH]  </a:t>
            </a:r>
            <a:r>
              <a:rPr sz="1000" b="1">
                <a:solidFill>
                  <a:srgbClr val="A855F7"/>
                </a:solidFill>
                <a:latin typeface="Arial"/>
              </a:rPr>
              <a:t>🎙️ Presenter: Speaker 1: Akash Dhakad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Domain-Restricted Privacy Gatekeeper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Mandatory authentication restricting portal access strictly to verified MITSians.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94A3B8"/>
                </a:solidFill>
                <a:latin typeface="Arial"/>
              </a:defRPr>
            </a:pPr>
            <a:r>
              <a:t>Slide 04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2D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7548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🛡️  Enterprise Security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4754880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Zero External Intrusion:</a:t>
            </a:r>
            <a:r>
              <a:rPr sz="1050">
                <a:solidFill>
                  <a:srgbClr val="CBD5E1"/>
                </a:solidFill>
              </a:rPr>
              <a:t> Non-college accounts (@gmail.com, @yahoo.com) are automatically terminated with an alert toast.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Institutional Roll Extraction:</a:t>
            </a:r>
            <a:r>
              <a:rPr sz="1050">
                <a:solidFill>
                  <a:srgbClr val="CBD5E1"/>
                </a:solidFill>
              </a:rPr>
              <a:t> Student roll numbers (e.g. 26ai1al11) and department codes are parsed automatically upon login.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Dynamic Role-Based Access Control:</a:t>
            </a:r>
            <a:r>
              <a:rPr sz="1050">
                <a:solidFill>
                  <a:srgbClr val="CBD5E1"/>
                </a:solidFill>
              </a:rPr>
              <a:t> System automatically categorizes logged-in users into: Student, Club President, or Faculty Coordinator.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Firestore Security Rules:</a:t>
            </a:r>
            <a:r>
              <a:rPr sz="1050">
                <a:solidFill>
                  <a:srgbClr val="CBD5E1"/>
                </a:solidFill>
              </a:rPr>
              <a:t> Backend security rules enforce that only authenticated @mitsgwl.ac.in claims can write to database.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Privacy Gatekeeper:</a:t>
            </a:r>
            <a:r>
              <a:rPr sz="1050">
                <a:solidFill>
                  <a:srgbClr val="CBD5E1"/>
                </a:solidFill>
              </a:rPr>
              <a:t> Unauthenticated users are completely blocked from viewing student phone numbers or club leader rosters.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38BDF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59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sz="1100">
                <a:solidFill>
                  <a:srgbClr val="38BDF8"/>
                </a:solidFill>
              </a:rPr>
              <a:t>📸 [ PLACE SCREENSHOT HERE ]
</a:t>
            </a:r>
            <a:r>
              <a:rPr b="1" sz="1000">
                <a:solidFill>
                  <a:srgbClr val="FFFFFF"/>
                </a:solidFill>
              </a:rPr>
              <a:t>Privacy Login Gatekeeper Screen
</a:t>
            </a:r>
            <a:r>
              <a:rPr sz="850">
                <a:solidFill>
                  <a:srgbClr val="94A3B8"/>
                </a:solidFill>
              </a:rPr>
              <a:t>(Show Google Login button with @mitsgwl.ac.in restriction badge)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MITS CLUB HUB • Madhav Institute of Technology &amp; Science, Gwalior (Deemed University) • mitsgwlclubhub.com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[TWO-FACTOR AUTH]  </a:t>
            </a:r>
            <a:r>
              <a:rPr sz="1000" b="1">
                <a:solidFill>
                  <a:srgbClr val="A855F7"/>
                </a:solidFill>
                <a:latin typeface="Arial"/>
              </a:rPr>
              <a:t>🎙️ Presenter: Speaker 1: Akash Dhakad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Real Telecom SMS 2FA Phone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Physical SIM authentication protecting student leadership and direct contact channels.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94A3B8"/>
                </a:solidFill>
                <a:latin typeface="Arial"/>
              </a:defRPr>
            </a:pPr>
            <a:r>
              <a:t>Slide 05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2D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7548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📱  Engineering Real SMS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4754880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E.164 Automated Formatter:</a:t>
            </a:r>
            <a:r>
              <a:rPr sz="1050">
                <a:solidFill>
                  <a:srgbClr val="CBD5E1"/>
                </a:solidFill>
              </a:rPr>
              <a:t> Converts 10-digit Indian mobile numbers into international telecom standard (+91XXXXXXXXXX).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Invisible Google reCAPTCHA:</a:t>
            </a:r>
            <a:r>
              <a:rPr sz="1050">
                <a:solidFill>
                  <a:srgbClr val="CBD5E1"/>
                </a:solidFill>
              </a:rPr>
              <a:t> Silent background verification algorithm blocks bots without annoying captcha puzzles.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Telecom Carrier Dispatch:</a:t>
            </a:r>
            <a:r>
              <a:rPr sz="1050">
                <a:solidFill>
                  <a:srgbClr val="CBD5E1"/>
                </a:solidFill>
              </a:rPr>
              <a:t> Leverages Google Cloud routing to deliver real 6-digit SMS OTPs directly to Airtel, Jio, Vi, and BSNL SIMs.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Auto-Recovery Mechanism:</a:t>
            </a:r>
            <a:r>
              <a:rPr sz="1050">
                <a:solidFill>
                  <a:srgbClr val="CBD5E1"/>
                </a:solidFill>
              </a:rPr>
              <a:t> Automatically clears reCAPTCHA DOM containers, eliminating 'already rendered' runtime conflicts.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Verified 2FA Leadership Badge:</a:t>
            </a:r>
            <a:r>
              <a:rPr sz="1050">
                <a:solidFill>
                  <a:srgbClr val="CBD5E1"/>
                </a:solidFill>
              </a:rPr>
              <a:t> Verified presidents earn an authenticated green badge, boosting parent &amp; student trust.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38BDF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59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sz="1100">
                <a:solidFill>
                  <a:srgbClr val="38BDF8"/>
                </a:solidFill>
              </a:rPr>
              <a:t>📸 [ PLACE SCREENSHOT HERE ]
</a:t>
            </a:r>
            <a:r>
              <a:rPr b="1" sz="1000">
                <a:solidFill>
                  <a:srgbClr val="FFFFFF"/>
                </a:solidFill>
              </a:rPr>
              <a:t>2FA Phone Verification Modal
</a:t>
            </a:r>
            <a:r>
              <a:rPr sz="850">
                <a:solidFill>
                  <a:srgbClr val="94A3B8"/>
                </a:solidFill>
              </a:rPr>
              <a:t>(Show 6-digit OTP code input, countdown timer, and verified badge)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MITS CLUB HUB • Madhav Institute of Technology &amp; Science, Gwalior (Deemed University) • mitsgwlclubhub.com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[REALTIME ENGINE]  </a:t>
            </a:r>
            <a:r>
              <a:rPr sz="1000" b="1">
                <a:solidFill>
                  <a:srgbClr val="A855F7"/>
                </a:solidFill>
                <a:latin typeface="Arial"/>
              </a:rPr>
              <a:t>🎙️ Presenter: Speaker 1: Akash Dhakad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Cloud Firestore Realtime Sync &amp; SPA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Instant multi-device broadcast with zero-reload single-page navigation.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94A3B8"/>
                </a:solidFill>
                <a:latin typeface="Arial"/>
              </a:defRPr>
            </a:pPr>
            <a:r>
              <a:t>Slide 06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2D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7548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⚡  Reactive State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4754880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WebSocket onSnapshot Subscriptions:</a:t>
            </a:r>
            <a:r>
              <a:rPr sz="1050">
                <a:solidFill>
                  <a:srgbClr val="CBD5E1"/>
                </a:solidFill>
              </a:rPr>
              <a:t> Live listeners push database updates to client browsers in &lt;100ms.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Hash-Based SPA Routing:</a:t>
            </a:r>
            <a:r>
              <a:rPr sz="1050">
                <a:solidFill>
                  <a:srgbClr val="CBD5E1"/>
                </a:solidFill>
              </a:rPr>
              <a:t> Deep linking support for individual clubs (#club/{id}) and developer profiles (#developer).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Multi-Client Live Reflection:</a:t>
            </a:r>
            <a:r>
              <a:rPr sz="1050">
                <a:solidFill>
                  <a:srgbClr val="CBD5E1"/>
                </a:solidFill>
              </a:rPr>
              <a:t> When a President publishes an announcement, all online students see the banner immediately.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Zero-Reload Smoothness:</a:t>
            </a:r>
            <a:r>
              <a:rPr sz="1050">
                <a:solidFill>
                  <a:srgbClr val="CBD5E1"/>
                </a:solidFill>
              </a:rPr>
              <a:t> Page transitions maintain browser history, back/forward buttons, and smooth scroll restoration.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Offline Cache Resilience:</a:t>
            </a:r>
            <a:r>
              <a:rPr sz="1050">
                <a:solidFill>
                  <a:srgbClr val="CBD5E1"/>
                </a:solidFill>
              </a:rPr>
              <a:t> Firestore local persistence provides instant page rendering even on poor campus connections.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38BDF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59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sz="1100">
                <a:solidFill>
                  <a:srgbClr val="38BDF8"/>
                </a:solidFill>
              </a:rPr>
              <a:t>📸 [ PLACE SCREENSHOT HERE ]
</a:t>
            </a:r>
            <a:r>
              <a:rPr b="1" sz="1000">
                <a:solidFill>
                  <a:srgbClr val="FFFFFF"/>
                </a:solidFill>
              </a:rPr>
              <a:t>Live Realtime Toast &amp; Dynamic State Sync
</a:t>
            </a:r>
            <a:r>
              <a:rPr sz="850">
                <a:solidFill>
                  <a:srgbClr val="94A3B8"/>
                </a:solidFill>
              </a:rPr>
              <a:t>(Show instant toast alert and seamless SPA transitions)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MITS CLUB HUB • Madhav Institute of Technology &amp; Science, Gwalior (Deemed University) • mitsgwlclubhub.com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[DATA TAXONOMY]  </a:t>
            </a:r>
            <a:r>
              <a:rPr sz="1000" b="1">
                <a:solidFill>
                  <a:srgbClr val="A855F7"/>
                </a:solidFill>
                <a:latin typeface="Arial"/>
              </a:rPr>
              <a:t>🎙️ Presenter: Speaker 2: Alok Mahor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Campus Clubs Research &amp; Categorization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Structuring the official student society database into a standardized college ontology.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94A3B8"/>
                </a:solidFill>
                <a:latin typeface="Arial"/>
              </a:defRPr>
            </a:pPr>
            <a:r>
              <a:t>Slide 07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2D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7548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🗂️  Researched Society Ontology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4754880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Technical &amp; Robotics:</a:t>
            </a:r>
            <a:r>
              <a:rPr sz="1050">
                <a:solidFill>
                  <a:srgbClr val="CBD5E1"/>
                </a:solidFill>
              </a:rPr>
              <a:t> Aerospace MITS, Team Scavengers (Motorsports Club), AI Club, ISTE MITS Chapter.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Literary &amp; Debate:</a:t>
            </a:r>
            <a:r>
              <a:rPr sz="1050">
                <a:solidFill>
                  <a:srgbClr val="CBD5E1"/>
                </a:solidFill>
              </a:rPr>
              <a:t> mits.querecia (Official Literary Society), Hindi Samiti MITS.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Cultural &amp; Music:</a:t>
            </a:r>
            <a:r>
              <a:rPr sz="1050">
                <a:solidFill>
                  <a:srgbClr val="CBD5E1"/>
                </a:solidFill>
              </a:rPr>
              <a:t> Bandish MITS (Official Music Society), Dance &amp; Dramatics Society.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Sports &amp; Athletics:</a:t>
            </a:r>
            <a:r>
              <a:rPr sz="1050">
                <a:solidFill>
                  <a:srgbClr val="CBD5E1"/>
                </a:solidFill>
              </a:rPr>
              <a:t> MITS.FC (Football Club), Cricket &amp; Badminton Student Cells.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Health &amp; Wellness:</a:t>
            </a:r>
            <a:r>
              <a:rPr sz="1050">
                <a:solidFill>
                  <a:srgbClr val="CBD5E1"/>
                </a:solidFill>
              </a:rPr>
              <a:t> Holistic Health Club MITS (Physical and mental wellbeing initiatives).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Institutional Cells:</a:t>
            </a:r>
            <a:r>
              <a:rPr sz="1050">
                <a:solidFill>
                  <a:srgbClr val="CBD5E1"/>
                </a:solidFill>
              </a:rPr>
              <a:t> alumnicell.mech_mits (Departmental Alumni Relations &amp; Mentorship).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38BDF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59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sz="1100">
                <a:solidFill>
                  <a:srgbClr val="38BDF8"/>
                </a:solidFill>
              </a:rPr>
              <a:t>📸 [ PLACE SCREENSHOT HERE ]
</a:t>
            </a:r>
            <a:r>
              <a:rPr b="1" sz="1000">
                <a:solidFill>
                  <a:srgbClr val="FFFFFF"/>
                </a:solidFill>
              </a:rPr>
              <a:t>Category Pills &amp; Directory Cards
</a:t>
            </a:r>
            <a:r>
              <a:rPr sz="850">
                <a:solidFill>
                  <a:srgbClr val="94A3B8"/>
                </a:solidFill>
              </a:rPr>
              <a:t>(Show the 6 category pills and official club cards in directory)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MITS CLUB HUB • Madhav Institute of Technology &amp; Science, Gwalior (Deemed University) • mitsgwlclubhub.com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[SEARCH &amp; DISCOVERY]  </a:t>
            </a:r>
            <a:r>
              <a:rPr sz="1000" b="1">
                <a:solidFill>
                  <a:srgbClr val="A855F7"/>
                </a:solidFill>
                <a:latin typeface="Arial"/>
              </a:rPr>
              <a:t>🎙️ Presenter: Speaker 2: Alok Mahor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Interactive 3D Multi-Filter Discovery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Multi-dimensional search algorithms enabling instant club discovery in &lt;2 seconds.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94A3B8"/>
                </a:solidFill>
                <a:latin typeface="Arial"/>
              </a:defRPr>
            </a:pPr>
            <a:r>
              <a:t>Slide 08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2D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7548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🔍  Multi-Dimensional Search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4754880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Real-Time Keyword Search:</a:t>
            </a:r>
            <a:r>
              <a:rPr sz="1050">
                <a:solidFill>
                  <a:srgbClr val="CBD5E1"/>
                </a:solidFill>
              </a:rPr>
              <a:t> Evaluates club names, taglines, keywords, and president names concurrently as you type.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Category Pills Navigation:</a:t>
            </a:r>
            <a:r>
              <a:rPr sz="1050">
                <a:solidFill>
                  <a:srgbClr val="CBD5E1"/>
                </a:solidFill>
              </a:rPr>
              <a:t> 1-click filtering across All, Technical, Cultural, Sports, Social, Literary, and Innovation.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Recruitment Status Filter:</a:t>
            </a:r>
            <a:r>
              <a:rPr sz="1050">
                <a:solidFill>
                  <a:srgbClr val="CBD5E1"/>
                </a:solidFill>
              </a:rPr>
              <a:t> Instantly isolates clubs currently hiring new members (Recruitment Open vs Closed).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Financial Transparency Filter:</a:t>
            </a:r>
            <a:r>
              <a:rPr sz="1050">
                <a:solidFill>
                  <a:srgbClr val="CBD5E1"/>
                </a:solidFill>
              </a:rPr>
              <a:t> Instant sorting between 100% Free Clubs and Paid Membership clubs with clear fee tags.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Reset &amp; Clear Console:</a:t>
            </a:r>
            <a:r>
              <a:rPr sz="1050">
                <a:solidFill>
                  <a:srgbClr val="CBD5E1"/>
                </a:solidFill>
              </a:rPr>
              <a:t> Dedicated one-tap reset button restores full directory view immediately.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38BDF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59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sz="1100">
                <a:solidFill>
                  <a:srgbClr val="38BDF8"/>
                </a:solidFill>
              </a:rPr>
              <a:t>📸 [ PLACE SCREENSHOT HERE ]
</a:t>
            </a:r>
            <a:r>
              <a:rPr b="1" sz="1000">
                <a:solidFill>
                  <a:srgbClr val="FFFFFF"/>
                </a:solidFill>
              </a:rPr>
              <a:t>3D Filter Console &amp; Search Bar
</a:t>
            </a:r>
            <a:r>
              <a:rPr sz="850">
                <a:solidFill>
                  <a:srgbClr val="94A3B8"/>
                </a:solidFill>
              </a:rPr>
              <a:t>(Show search input, category chips, and dropdown filters in action)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MITS CLUB HUB • Madhav Institute of Technology &amp; Science, Gwalior (Deemed University) • mitsgwlclubhub.com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[USER EXPERIENCE]  </a:t>
            </a:r>
            <a:r>
              <a:rPr sz="1000" b="1">
                <a:solidFill>
                  <a:srgbClr val="A855F7"/>
                </a:solidFill>
                <a:latin typeface="Arial"/>
              </a:rPr>
              <a:t>🎙️ Presenter: Speaker 2: Alok Mahor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Dedicated Single Page Club Breakdown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'Kya Hai, Kyu Hai, Kaise Join Karein' structured narrative for every student society.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94A3B8"/>
                </a:solidFill>
                <a:latin typeface="Arial"/>
              </a:defRPr>
            </a:pPr>
            <a:r>
              <a:t>Slide 09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2D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7548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📖  Deep Club Narrative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4754880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'Kya Hai' (About the Club):</a:t>
            </a:r>
            <a:r>
              <a:rPr sz="1050">
                <a:solidFill>
                  <a:srgbClr val="CBD5E1"/>
                </a:solidFill>
              </a:rPr>
              <a:t> Society mission statement, founding vision, and regular weekly/monthly activities.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'Kyu Hai' (Why Join):</a:t>
            </a:r>
            <a:r>
              <a:rPr sz="1050">
                <a:solidFill>
                  <a:srgbClr val="CBD5E1"/>
                </a:solidFill>
              </a:rPr>
              <a:t> Practical benefits, skill development, peer networking, event exposure, and official certificates.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'Kaise Join Karein' (How to Join):</a:t>
            </a:r>
            <a:r>
              <a:rPr sz="1050">
                <a:solidFill>
                  <a:srgbClr val="CBD5E1"/>
                </a:solidFill>
              </a:rPr>
              <a:t> Registration requirements, timeline, fee breakdown, and 1-click apply trigger.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Interactive 3D Lightbox Gallery:</a:t>
            </a:r>
            <a:r>
              <a:rPr sz="1050">
                <a:solidFill>
                  <a:srgbClr val="CBD5E1"/>
                </a:solidFill>
              </a:rPr>
              <a:t> High-resolution photo gallery showcasing past orientations, fests, and competitions.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Complete Leadership Roster:</a:t>
            </a:r>
            <a:r>
              <a:rPr sz="1050">
                <a:solidFill>
                  <a:srgbClr val="CBD5E1"/>
                </a:solidFill>
              </a:rPr>
              <a:t> Profiles for President, Vice President, Tech Lead, Media Lead, and PR Coordinator.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38BDF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59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sz="1100">
                <a:solidFill>
                  <a:srgbClr val="38BDF8"/>
                </a:solidFill>
              </a:rPr>
              <a:t>📸 [ PLACE SCREENSHOT HERE ]
</a:t>
            </a:r>
            <a:r>
              <a:rPr b="1" sz="1000">
                <a:solidFill>
                  <a:srgbClr val="FFFFFF"/>
                </a:solidFill>
              </a:rPr>
              <a:t>Dedicated Club Breakdown View
</a:t>
            </a:r>
            <a:r>
              <a:rPr sz="850">
                <a:solidFill>
                  <a:srgbClr val="94A3B8"/>
                </a:solidFill>
              </a:rPr>
              <a:t>(Show the hero cover banner, 'Kya Hai / Kyu Hai' sections, and gallery)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MITS CLUB HUB • Madhav Institute of Technology &amp; Science, Gwalior (Deemed University) • mitsgwlclubhub.com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[RECRUITMENT ENGINE]  </a:t>
            </a:r>
            <a:r>
              <a:rPr sz="1000" b="1">
                <a:solidFill>
                  <a:srgbClr val="A855F7"/>
                </a:solidFill>
                <a:latin typeface="Arial"/>
              </a:rPr>
              <a:t>🎙️ Presenter: Speaker 3: Aman Singh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Student Membership &amp; Recruitment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Structured recruitment pipelines replacing unorganized Google Forms across campus.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94A3B8"/>
                </a:solidFill>
                <a:latin typeface="Arial"/>
              </a:defRPr>
            </a:pPr>
            <a:r>
              <a:t>Slide 10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2D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7548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📝  Structured Application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4754880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Standardized Application Modal:</a:t>
            </a:r>
            <a:r>
              <a:rPr sz="1050">
                <a:solidFill>
                  <a:srgbClr val="CBD5E1"/>
                </a:solidFill>
              </a:rPr>
              <a:t> Gathers student roll number, year, branch, role preference, and statement of interest.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Portfolio &amp; Profile Links:</a:t>
            </a:r>
            <a:r>
              <a:rPr sz="1050">
                <a:solidFill>
                  <a:srgbClr val="CBD5E1"/>
                </a:solidFill>
              </a:rPr>
              <a:t> Dedicated fields for GitHub repositories, LinkedIn profiles, and design portfolios.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Deadline Countdown Badges:</a:t>
            </a:r>
            <a:r>
              <a:rPr sz="1050">
                <a:solidFill>
                  <a:srgbClr val="CBD5E1"/>
                </a:solidFill>
              </a:rPr>
              <a:t> Real-time visual pills highlighting '3 Days Left' or 'Deadline Today' to drive applicant action.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Duplicate Prevention:</a:t>
            </a:r>
            <a:r>
              <a:rPr sz="1050">
                <a:solidFill>
                  <a:srgbClr val="CBD5E1"/>
                </a:solidFill>
              </a:rPr>
              <a:t> Security rules prevent students from spamming multiple applications to the same club.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'My Applications' Dashboard:</a:t>
            </a:r>
            <a:r>
              <a:rPr sz="1050">
                <a:solidFill>
                  <a:srgbClr val="CBD5E1"/>
                </a:solidFill>
              </a:rPr>
              <a:t> Students track application state (Pending, Shortlisted, Approved) live on their personal page.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38BDF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59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sz="1100">
                <a:solidFill>
                  <a:srgbClr val="38BDF8"/>
                </a:solidFill>
              </a:rPr>
              <a:t>📸 [ PLACE SCREENSHOT HERE ]
</a:t>
            </a:r>
            <a:r>
              <a:rPr b="1" sz="1000">
                <a:solidFill>
                  <a:srgbClr val="FFFFFF"/>
                </a:solidFill>
              </a:rPr>
              <a:t>Club Application Form &amp; Countdown
</a:t>
            </a:r>
            <a:r>
              <a:rPr sz="850">
                <a:solidFill>
                  <a:srgbClr val="94A3B8"/>
                </a:solidFill>
              </a:rPr>
              <a:t>(Show application form modal with countdown badge and portfolio inputs)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MITS CLUB HUB • Madhav Institute of Technology &amp; Science, Gwalior (Deemed University) • mitsgwlclubhub.com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[LEADERSHIP PORTAL]  </a:t>
            </a:r>
            <a:r>
              <a:rPr sz="1000" b="1">
                <a:solidFill>
                  <a:srgbClr val="A855F7"/>
                </a:solidFill>
                <a:latin typeface="Arial"/>
              </a:rPr>
              <a:t>🎙️ Presenter: Speaker 3: Aman Singh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President Operations &amp; Review Command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A comprehensive administrative workstation for club presidents and core committees.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94A3B8"/>
                </a:solidFill>
                <a:latin typeface="Arial"/>
              </a:defRPr>
            </a:pPr>
            <a:r>
              <a:t>Slide 11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2D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7548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👑  Presidential Administrative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4754880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Live Applicant Roster:</a:t>
            </a:r>
            <a:r>
              <a:rPr sz="1050">
                <a:solidFill>
                  <a:srgbClr val="CBD5E1"/>
                </a:solidFill>
              </a:rPr>
              <a:t> Real-time candidate table displaying student names, branches, portfolios, and application dates.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1-Click State Actions:</a:t>
            </a:r>
            <a:r>
              <a:rPr sz="1050">
                <a:solidFill>
                  <a:srgbClr val="CBD5E1"/>
                </a:solidFill>
              </a:rPr>
              <a:t> Presidents can mark applicants as Shortlist, Approve, or Reject with customized interview remarks.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Live Announcement Broadcaster:</a:t>
            </a:r>
            <a:r>
              <a:rPr sz="1050">
                <a:solidFill>
                  <a:srgbClr val="CBD5E1"/>
                </a:solidFill>
              </a:rPr>
              <a:t> Publish emergency alerts (e.g. 'Orientation today in Audi-1') appearing on the public card.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Recruitment Status Switch:</a:t>
            </a:r>
            <a:r>
              <a:rPr sz="1050">
                <a:solidFill>
                  <a:srgbClr val="CBD5E1"/>
                </a:solidFill>
              </a:rPr>
              <a:t> Toggle recruitment from Open to Closed in one tap when society quotas are fulfilled.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Direct Contact Integration:</a:t>
            </a:r>
            <a:r>
              <a:rPr sz="1050">
                <a:solidFill>
                  <a:srgbClr val="CBD5E1"/>
                </a:solidFill>
              </a:rPr>
              <a:t> 1-click WhatsApp or Phone calling to schedule shortlisted candidate interviews.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38BDF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59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sz="1100">
                <a:solidFill>
                  <a:srgbClr val="38BDF8"/>
                </a:solidFill>
              </a:rPr>
              <a:t>📸 [ PLACE SCREENSHOT HERE ]
</a:t>
            </a:r>
            <a:r>
              <a:rPr b="1" sz="1000">
                <a:solidFill>
                  <a:srgbClr val="FFFFFF"/>
                </a:solidFill>
              </a:rPr>
              <a:t>Applicants Management Dashboard
</a:t>
            </a:r>
            <a:r>
              <a:rPr sz="850">
                <a:solidFill>
                  <a:srgbClr val="94A3B8"/>
                </a:solidFill>
              </a:rPr>
              <a:t>(Show candidate cards with Shortlist, Approve, and Reject action buttons)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MITS CLUB HUB • Madhav Institute of Technology &amp; Science, Gwalior (Deemed University) • mitsgwlclubhub.com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[GOVERNANCE]  </a:t>
            </a:r>
            <a:r>
              <a:rPr sz="1000" b="1">
                <a:solidFill>
                  <a:srgbClr val="A855F7"/>
                </a:solidFill>
                <a:latin typeface="Arial"/>
              </a:rPr>
              <a:t>🎙️ Presenter: Speaker 3: Aman Singh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Safe Leadership Handover &amp; Delegation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Solving the annual senior graduation succession problem with verified handovers.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94A3B8"/>
                </a:solidFill>
                <a:latin typeface="Arial"/>
              </a:defRPr>
            </a:pPr>
            <a:r>
              <a:t>Slide 12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2D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7548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🤝  Secure Succession Protocol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4754880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Senior Succession Protocol:</a:t>
            </a:r>
            <a:r>
              <a:rPr sz="1050">
                <a:solidFill>
                  <a:srgbClr val="CBD5E1"/>
                </a:solidFill>
              </a:rPr>
              <a:t> Outgoing president nominates junior successor by verified college email and phone.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Protected Pending Handover:</a:t>
            </a:r>
            <a:r>
              <a:rPr sz="1050">
                <a:solidFill>
                  <a:srgbClr val="CBD5E1"/>
                </a:solidFill>
              </a:rPr>
              <a:t> Club enters a safe pending handover state; outgoing president maintains control until acceptance.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Successor Confirmation Prompt:</a:t>
            </a:r>
            <a:r>
              <a:rPr sz="1050">
                <a:solidFill>
                  <a:srgbClr val="CBD5E1"/>
                </a:solidFill>
              </a:rPr>
              <a:t> When the junior logs in, an interactive banner prompts them to Accept or Decline.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Cryptographic Ownership Transfer:</a:t>
            </a:r>
            <a:r>
              <a:rPr sz="1050">
                <a:solidFill>
                  <a:srgbClr val="CBD5E1"/>
                </a:solidFill>
              </a:rPr>
              <a:t> Once confirmed, database pointers update instantly and revoke old administrative claims.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Co-Lead Collaboration:</a:t>
            </a:r>
            <a:r>
              <a:rPr sz="1050">
                <a:solidFill>
                  <a:srgbClr val="CBD5E1"/>
                </a:solidFill>
              </a:rPr>
              <a:t> Presidents can invite co-leads as collaborators with edit permissions for major campus fests.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38BDF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59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sz="1100">
                <a:solidFill>
                  <a:srgbClr val="38BDF8"/>
                </a:solidFill>
              </a:rPr>
              <a:t>📸 [ PLACE SCREENSHOT HERE ]
</a:t>
            </a:r>
            <a:r>
              <a:rPr b="1" sz="1000">
                <a:solidFill>
                  <a:srgbClr val="FFFFFF"/>
                </a:solidFill>
              </a:rPr>
              <a:t>Leadership Handover &amp; Succession Modal
</a:t>
            </a:r>
            <a:r>
              <a:rPr sz="850">
                <a:solidFill>
                  <a:srgbClr val="94A3B8"/>
                </a:solidFill>
              </a:rPr>
              <a:t>(Show President Transfer nomination form and junior acceptance prompt)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MITS CLUB HUB • Madhav Institute of Technology &amp; Science, Gwalior (Deemed University) • mitsgwlclubhub.com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[FACULTY GOVERNANCE]  </a:t>
            </a:r>
            <a:r>
              <a:rPr sz="1000" b="1">
                <a:solidFill>
                  <a:srgbClr val="A855F7"/>
                </a:solidFill>
                <a:latin typeface="Arial"/>
              </a:rPr>
              <a:t>🎙️ Presenter: Speaker 4: Akash Gupta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Faculty Coordinator Authorization 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Mandatory professor approval workflow upholding institutional academic standards.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94A3B8"/>
                </a:solidFill>
                <a:latin typeface="Arial"/>
              </a:defRPr>
            </a:pPr>
            <a:r>
              <a:t>Slide 13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2D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7548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🏛️  Faculty Approval Security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4754880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Mandatory Pre-Live State:</a:t>
            </a:r>
            <a:r>
              <a:rPr sz="1050">
                <a:solidFill>
                  <a:srgbClr val="CBD5E1"/>
                </a:solidFill>
              </a:rPr>
              <a:t> Newly registered clubs are flagged with status: 'pending', completely hidden from students.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Automated Coordinator Routing:</a:t>
            </a:r>
            <a:r>
              <a:rPr sz="1050">
                <a:solidFill>
                  <a:srgbClr val="CBD5E1"/>
                </a:solidFill>
              </a:rPr>
              <a:t> Matches coordinatorEmail directly to the logged-in professor's verified college account.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Dedicated Faculty Queue:</a:t>
            </a:r>
            <a:r>
              <a:rPr sz="1050">
                <a:solidFill>
                  <a:srgbClr val="CBD5E1"/>
                </a:solidFill>
              </a:rPr>
              <a:t> When the professor logs in, the Official Professor Approvals Queue appears at the top.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Audit Remarks &amp; Notes:</a:t>
            </a:r>
            <a:r>
              <a:rPr sz="1050">
                <a:solidFill>
                  <a:srgbClr val="CBD5E1"/>
                </a:solidFill>
              </a:rPr>
              <a:t> Coordinators provide official review notes (e.g. 'Approved for 2026 Academic Calendar').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1-Click Publish:</a:t>
            </a:r>
            <a:r>
              <a:rPr sz="1050">
                <a:solidFill>
                  <a:srgbClr val="CBD5E1"/>
                </a:solidFill>
              </a:rPr>
              <a:t> Tapping 'Authorize &amp; Publish' broadcasts the club live across all student screens in real-time.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38BDF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59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sz="1100">
                <a:solidFill>
                  <a:srgbClr val="38BDF8"/>
                </a:solidFill>
              </a:rPr>
              <a:t>📸 [ PLACE SCREENSHOT HERE ]
</a:t>
            </a:r>
            <a:r>
              <a:rPr b="1" sz="1000">
                <a:solidFill>
                  <a:srgbClr val="FFFFFF"/>
                </a:solidFill>
              </a:rPr>
              <a:t>Official Professor Approvals Queue
</a:t>
            </a:r>
            <a:r>
              <a:rPr sz="850">
                <a:solidFill>
                  <a:srgbClr val="94A3B8"/>
                </a:solidFill>
              </a:rPr>
              <a:t>(Show Professor Authorization Card with Authorize &amp; Publish buttons)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MITS CLUB HUB • Madhav Institute of Technology &amp; Science, Gwalior (Deemed University) • mitsgwlclubhub.com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[NOTIFICATION SYSTEMS]  </a:t>
            </a:r>
            <a:r>
              <a:rPr sz="1000" b="1">
                <a:solidFill>
                  <a:srgbClr val="A855F7"/>
                </a:solidFill>
                <a:latin typeface="Arial"/>
              </a:rPr>
              <a:t>🎙️ Presenter: Speaker 4: Akash Gupta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Multi-Channel Mentor Notification Dispatcher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Bridging students and professors through instantaneous notification protocols.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94A3B8"/>
                </a:solidFill>
                <a:latin typeface="Arial"/>
              </a:defRPr>
            </a:pPr>
            <a:r>
              <a:t>Slide 14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2D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7548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📬  Multi-Channel Dispatcher Channels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4754880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1-Click Gmail Formal Letter:</a:t>
            </a:r>
            <a:r>
              <a:rPr sz="1050">
                <a:solidFill>
                  <a:srgbClr val="CBD5E1"/>
                </a:solidFill>
              </a:rPr>
              <a:t> Pre-composes an official letter addressed to the professor with club details and portal link.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WhatsApp Direct Forwarding:</a:t>
            </a:r>
            <a:r>
              <a:rPr sz="1050">
                <a:solidFill>
                  <a:srgbClr val="CBD5E1"/>
                </a:solidFill>
              </a:rPr>
              <a:t> Formats a clean WhatsApp markdown message with deep links for rapid faculty review.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Formatted Clipboard Copy:</a:t>
            </a:r>
            <a:r>
              <a:rPr sz="1050">
                <a:solidFill>
                  <a:srgbClr val="CBD5E1"/>
                </a:solidFill>
              </a:rPr>
              <a:t> Copies formal authorization request text to paste into official departmental mail threads.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Instant Student Feedback:</a:t>
            </a:r>
            <a:r>
              <a:rPr sz="1050">
                <a:solidFill>
                  <a:srgbClr val="CBD5E1"/>
                </a:solidFill>
              </a:rPr>
              <a:t> Gives students immediate confirmation that their proposal has reached their faculty coordinator.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Zero Communication Delay:</a:t>
            </a:r>
            <a:r>
              <a:rPr sz="1050">
                <a:solidFill>
                  <a:srgbClr val="CBD5E1"/>
                </a:solidFill>
              </a:rPr>
              <a:t> Eliminates weeks of physical paperwork chasing faculty signatures across departments.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38BDF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59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sz="1100">
                <a:solidFill>
                  <a:srgbClr val="38BDF8"/>
                </a:solidFill>
              </a:rPr>
              <a:t>📸 [ PLACE SCREENSHOT HERE ]
</a:t>
            </a:r>
            <a:r>
              <a:rPr b="1" sz="1000">
                <a:solidFill>
                  <a:srgbClr val="FFFFFF"/>
                </a:solidFill>
              </a:rPr>
              <a:t>Faculty Mentor Notification Modal
</a:t>
            </a:r>
            <a:r>
              <a:rPr sz="850">
                <a:solidFill>
                  <a:srgbClr val="94A3B8"/>
                </a:solidFill>
              </a:rPr>
              <a:t>(Show 1-Click Gmail, WhatsApp, and Copy Request buttons)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MITS CLUB HUB • Madhav Institute of Technology &amp; Science, Gwalior (Deemed University) • mitsgwlclubhub.com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[DIRECT COMMUNICATION]  </a:t>
            </a:r>
            <a:r>
              <a:rPr sz="1000" b="1">
                <a:solidFill>
                  <a:srgbClr val="A855F7"/>
                </a:solidFill>
                <a:latin typeface="Arial"/>
              </a:rPr>
              <a:t>🎙️ Presenter: Speaker 4: Akash Gupta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Interactive Leader Contact Action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Frictionless peer-to-leader connectivity across all preferred communication channels.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94A3B8"/>
                </a:solidFill>
                <a:latin typeface="Arial"/>
              </a:defRPr>
            </a:pPr>
            <a:r>
              <a:t>Slide 15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2D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7548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💬  Direct Connectivity Channels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4754880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WhatsApp API Integration:</a:t>
            </a:r>
            <a:r>
              <a:rPr sz="1050">
                <a:solidFill>
                  <a:srgbClr val="CBD5E1"/>
                </a:solidFill>
              </a:rPr>
              <a:t> Opens WhatsApp with pre-filled greeting: 'Namaste Leader, connecting via MITS Club Hub'.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Direct Cellular Phone Dialer:</a:t>
            </a:r>
            <a:r>
              <a:rPr sz="1050">
                <a:solidFill>
                  <a:srgbClr val="CBD5E1"/>
                </a:solidFill>
              </a:rPr>
              <a:t> Triggers device dialer directly with the leader's 2FA-verified contact number.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College Webmail Dispatcher:</a:t>
            </a:r>
            <a:r>
              <a:rPr sz="1050">
                <a:solidFill>
                  <a:srgbClr val="CBD5E1"/>
                </a:solidFill>
              </a:rPr>
              <a:t> Generates formatted inquiry draft in student's default mail client.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Social Media Bridge:</a:t>
            </a:r>
            <a:r>
              <a:rPr sz="1050">
                <a:solidFill>
                  <a:srgbClr val="CBD5E1"/>
                </a:solidFill>
              </a:rPr>
              <a:t> Direct links to verified club Instagram handles and orientation highlight reels.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Identity Verification:</a:t>
            </a:r>
            <a:r>
              <a:rPr sz="1050">
                <a:solidFill>
                  <a:srgbClr val="CBD5E1"/>
                </a:solidFill>
              </a:rPr>
              <a:t> Displays leader avatar, official society designation, and green 2FA verification badge.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38BDF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59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sz="1100">
                <a:solidFill>
                  <a:srgbClr val="38BDF8"/>
                </a:solidFill>
              </a:rPr>
              <a:t>📸 [ PLACE SCREENSHOT HERE ]
</a:t>
            </a:r>
            <a:r>
              <a:rPr b="1" sz="1000">
                <a:solidFill>
                  <a:srgbClr val="FFFFFF"/>
                </a:solidFill>
              </a:rPr>
              <a:t>Interactive Contact Action Sheet
</a:t>
            </a:r>
            <a:r>
              <a:rPr sz="850">
                <a:solidFill>
                  <a:srgbClr val="94A3B8"/>
                </a:solidFill>
              </a:rPr>
              <a:t>(Show WhatsApp, Phone, Email, and Instagram direct trigger buttons)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MITS CLUB HUB • Madhav Institute of Technology &amp; Science, Gwalior (Deemed University) • mitsgwlclubhub.com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[SYSTEM DATA FLOW]  </a:t>
            </a:r>
            <a:r>
              <a:rPr sz="1000" b="1">
                <a:solidFill>
                  <a:srgbClr val="A855F7"/>
                </a:solidFill>
                <a:latin typeface="Arial"/>
              </a:rPr>
              <a:t>🎙️ Presenter: Joint Technical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Complete End-to-End Club Lifecycle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From initial student registration through faculty authorization and member enrollment.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94A3B8"/>
                </a:solidFill>
                <a:latin typeface="Arial"/>
              </a:defRPr>
            </a:pPr>
            <a:r>
              <a:t>Slide 16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2D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468880" cy="42976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20116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1️⃣  Phase 1: Registration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2011680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50">
                <a:solidFill>
                  <a:srgbClr val="CBD5E1"/>
                </a:solidFill>
              </a:rPr>
              <a:t>▹ President logs in via @mitsgwl.ac.in.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CBD5E1"/>
                </a:solidFill>
              </a:rPr>
              <a:t>▹ Fills society name, category, fee, and photos.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CBD5E1"/>
                </a:solidFill>
              </a:rPr>
              <a:t>▹ Assigns designated Coordinator Professor email.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CBD5E1"/>
                </a:solidFill>
              </a:rPr>
              <a:t>▹ Submits proposal to Firestore.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828800"/>
            <a:ext cx="2468880" cy="42976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011680"/>
            <a:ext cx="20116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2️⃣  Phase 2: Notification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468880"/>
            <a:ext cx="2011680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50">
                <a:solidFill>
                  <a:srgbClr val="CBD5E1"/>
                </a:solidFill>
              </a:rPr>
              <a:t>▹ Club saved as 'pending'.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CBD5E1"/>
                </a:solidFill>
              </a:rPr>
              <a:t>▹ Notification Action Sheet opens.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CBD5E1"/>
                </a:solidFill>
              </a:rPr>
              <a:t>▹ President sends 1-Click Gmail letter to Professor.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CBD5E1"/>
                </a:solidFill>
              </a:rPr>
              <a:t>▹ Professor notified with direct login link.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2468880" cy="42976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11680"/>
            <a:ext cx="20116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3️⃣  Phase 3: Authorization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468880"/>
            <a:ext cx="2011680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50">
                <a:solidFill>
                  <a:srgbClr val="CBD5E1"/>
                </a:solidFill>
              </a:rPr>
              <a:t>▹ Professor signs in with college email.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CBD5E1"/>
                </a:solidFill>
              </a:rPr>
              <a:t>▹ Reviews proposal on Approvals Queue.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CBD5E1"/>
                </a:solidFill>
              </a:rPr>
              <a:t>▹ Adds official feedback remarks.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CBD5E1"/>
                </a:solidFill>
              </a:rPr>
              <a:t>▹ Clicks 'Authorize &amp; Publish' (Club live!).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828800"/>
            <a:ext cx="2468880" cy="42976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2011680"/>
            <a:ext cx="20116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4️⃣  Phase 4: Recruitment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468880"/>
            <a:ext cx="2011680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50">
                <a:solidFill>
                  <a:srgbClr val="CBD5E1"/>
                </a:solidFill>
              </a:rPr>
              <a:t>▹ Club published to 5,000+ students.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CBD5E1"/>
                </a:solidFill>
              </a:rPr>
              <a:t>▹ Students explore &amp; submit applications.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CBD5E1"/>
                </a:solidFill>
              </a:rPr>
              <a:t>▹ President shortlists candidates on dashboard.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CBD5E1"/>
                </a:solidFill>
              </a:rPr>
              <a:t>▹ Direct interview scheduling via WhatsApp.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MITS CLUB HUB • Madhav Institute of Technology &amp; Science, Gwalior (Deemed University) • mitsgwlclubhub.com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[USER MANUAL]  </a:t>
            </a:r>
            <a:r>
              <a:rPr sz="1000" b="1">
                <a:solidFill>
                  <a:srgbClr val="A855F7"/>
                </a:solidFill>
                <a:latin typeface="Arial"/>
              </a:rPr>
              <a:t>🎙️ Presenter: Operational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Three-Tier User Operational Manual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Clear operational instructions for Students, Club Leaders, and Faculty Mentors.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94A3B8"/>
                </a:solidFill>
                <a:latin typeface="Arial"/>
              </a:defRPr>
            </a:pPr>
            <a:r>
              <a:t>Slide 17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2D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29260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🎓  For MITS Students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2926080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Step 1:</a:t>
            </a:r>
            <a:r>
              <a:rPr sz="1000">
                <a:solidFill>
                  <a:srgbClr val="CBD5E1"/>
                </a:solidFill>
              </a:rPr>
              <a:t> Sign in with your @mitsgwl.ac.in Google email address.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Step 2:</a:t>
            </a:r>
            <a:r>
              <a:rPr sz="1000">
                <a:solidFill>
                  <a:srgbClr val="CBD5E1"/>
                </a:solidFill>
              </a:rPr>
              <a:t> Browse clubs using category pills, search keywords, or fee filters.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Step 3:</a:t>
            </a:r>
            <a:r>
              <a:rPr sz="1000">
                <a:solidFill>
                  <a:srgbClr val="CBD5E1"/>
                </a:solidFill>
              </a:rPr>
              <a:t> Open any club to inspect 'Kya Hai, Kyu Hai, Kaise Join Karein'.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Step 4:</a:t>
            </a:r>
            <a:r>
              <a:rPr sz="1000">
                <a:solidFill>
                  <a:srgbClr val="CBD5E1"/>
                </a:solidFill>
              </a:rPr>
              <a:t> Tap 'Apply Now' to submit your details and portfolio links.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Step 5:</a:t>
            </a:r>
            <a:r>
              <a:rPr sz="1000">
                <a:solidFill>
                  <a:srgbClr val="CBD5E1"/>
                </a:solidFill>
              </a:rPr>
              <a:t> Track your selection status under 'My Applications'.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011680"/>
            <a:ext cx="29260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👑  For Club Presidents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468880"/>
            <a:ext cx="2926080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Step 1:</a:t>
            </a:r>
            <a:r>
              <a:rPr sz="1000">
                <a:solidFill>
                  <a:srgbClr val="CBD5E1"/>
                </a:solidFill>
              </a:rPr>
              <a:t> Tap '+ Register Official Club' and upload cover &amp; gallery photos.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Step 2:</a:t>
            </a:r>
            <a:r>
              <a:rPr sz="1000">
                <a:solidFill>
                  <a:srgbClr val="CBD5E1"/>
                </a:solidFill>
              </a:rPr>
              <a:t> Enter designated Coordinator Professor's official email.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Step 3:</a:t>
            </a:r>
            <a:r>
              <a:rPr sz="1000">
                <a:solidFill>
                  <a:srgbClr val="CBD5E1"/>
                </a:solidFill>
              </a:rPr>
              <a:t> Dispatch 1-Click Gmail review letter to your faculty mentor.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Step 4:</a:t>
            </a:r>
            <a:r>
              <a:rPr sz="1000">
                <a:solidFill>
                  <a:srgbClr val="CBD5E1"/>
                </a:solidFill>
              </a:rPr>
              <a:t> Once approved, manage applicants under 'Manage Applicants'.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Step 5:</a:t>
            </a:r>
            <a:r>
              <a:rPr sz="1000">
                <a:solidFill>
                  <a:srgbClr val="CBD5E1"/>
                </a:solidFill>
              </a:rPr>
              <a:t> Broadcast live campus alerts using the announcement editor.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011680"/>
            <a:ext cx="29260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🏛️  For Faculty Mentors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468880"/>
            <a:ext cx="2926080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Step 1:</a:t>
            </a:r>
            <a:r>
              <a:rPr sz="1000">
                <a:solidFill>
                  <a:srgbClr val="CBD5E1"/>
                </a:solidFill>
              </a:rPr>
              <a:t> Sign in with your official @mitsgwl.ac.in credentials.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Step 2:</a:t>
            </a:r>
            <a:r>
              <a:rPr sz="1000">
                <a:solidFill>
                  <a:srgbClr val="CBD5E1"/>
                </a:solidFill>
              </a:rPr>
              <a:t> The 'Official Professor Approvals Queue' will highlight pending clubs.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Step 3:</a:t>
            </a:r>
            <a:r>
              <a:rPr sz="1000">
                <a:solidFill>
                  <a:srgbClr val="CBD5E1"/>
                </a:solidFill>
              </a:rPr>
              <a:t> Audit club description, leadership contact, and proposed fee.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Step 4:</a:t>
            </a:r>
            <a:r>
              <a:rPr sz="1000">
                <a:solidFill>
                  <a:srgbClr val="CBD5E1"/>
                </a:solidFill>
              </a:rPr>
              <a:t> Add official review remarks.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Step 5:</a:t>
            </a:r>
            <a:r>
              <a:rPr sz="1000">
                <a:solidFill>
                  <a:srgbClr val="CBD5E1"/>
                </a:solidFill>
              </a:rPr>
              <a:t> Click 'Authorize &amp; Publish' to instantly launch the club.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MITS CLUB HUB • Madhav Institute of Technology &amp; Science, Gwalior (Deemed University) • mitsgwlclubhub.com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[DEVOPS &amp; HOSTING]  </a:t>
            </a:r>
            <a:r>
              <a:rPr sz="1000" b="1">
                <a:solidFill>
                  <a:srgbClr val="A855F7"/>
                </a:solidFill>
                <a:latin typeface="Arial"/>
              </a:rPr>
              <a:t>🎙️ Presenter: Akash Dhakad (Lead Architect)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Live Production Infrastructure &amp;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Globally distributed, highly available, and verified on modern cloud edge networks.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94A3B8"/>
                </a:solidFill>
                <a:latin typeface="Arial"/>
              </a:defRPr>
            </a:pPr>
            <a:r>
              <a:t>Slide 18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2D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7548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🚀  Production Verification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4754880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Primary Production Host:</a:t>
            </a:r>
            <a:r>
              <a:rPr sz="1000">
                <a:solidFill>
                  <a:srgbClr val="CBD5E1"/>
                </a:solidFill>
              </a:rPr>
              <a:t> mits-gwl-club-hub.netlify.app (Deployed on Netlify Edge CDN).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Automated CI/CD Mirror:</a:t>
            </a:r>
            <a:r>
              <a:rPr sz="1000">
                <a:solidFill>
                  <a:srgbClr val="CBD5E1"/>
                </a:solidFill>
              </a:rPr>
              <a:t> akashcyber02.github.io/mits-club-hub (GitHub Actions passing with 100% green status).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Custom Institutional Domain:</a:t>
            </a:r>
            <a:r>
              <a:rPr sz="1000">
                <a:solidFill>
                  <a:srgbClr val="CBD5E1"/>
                </a:solidFill>
              </a:rPr>
              <a:t> Configured for mitsgwlclubhub.com with automatic HTTPS SSL encryption.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Performance Benchmarks:</a:t>
            </a:r>
            <a:r>
              <a:rPr sz="1000">
                <a:solidFill>
                  <a:srgbClr val="CBD5E1"/>
                </a:solidFill>
              </a:rPr>
              <a:t> 98+ Google Lighthouse score; First Contentful Paint &lt;800ms on mobile.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Zero Build Failures:</a:t>
            </a:r>
            <a:r>
              <a:rPr sz="1000">
                <a:solidFill>
                  <a:srgbClr val="CBD5E1"/>
                </a:solidFill>
              </a:rPr>
              <a:t> Lightweight vanilla client architecture runs without Node runtime bloat or server memory crashes.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▹ Localhost Ready:</a:t>
            </a:r>
            <a:r>
              <a:rPr sz="1000">
                <a:solidFill>
                  <a:srgbClr val="CBD5E1"/>
                </a:solidFill>
              </a:rPr>
              <a:t> Local test server operational on http://localhost:5500 and port 8080.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38BDF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59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sz="1100">
                <a:solidFill>
                  <a:srgbClr val="38BDF8"/>
                </a:solidFill>
              </a:rPr>
              <a:t>📸 [ PLACE SCREENSHOT HERE ]
</a:t>
            </a:r>
            <a:r>
              <a:rPr b="1" sz="1000">
                <a:solidFill>
                  <a:srgbClr val="FFFFFF"/>
                </a:solidFill>
              </a:rPr>
              <a:t>Netlify &amp; GitHub Actions Live Status
</a:t>
            </a:r>
            <a:r>
              <a:rPr sz="850">
                <a:solidFill>
                  <a:srgbClr val="94A3B8"/>
                </a:solidFill>
              </a:rPr>
              <a:t>(Show the live production URL and GitHub Actions Green build status)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MITS CLUB HUB • Madhav Institute of Technology &amp; Science, Gwalior (Deemed University) • mitsgwlclubhub.com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[STRATEGIC ROADMAP]  </a:t>
            </a:r>
            <a:r>
              <a:rPr sz="1000" b="1">
                <a:solidFill>
                  <a:srgbClr val="A855F7"/>
                </a:solidFill>
                <a:latin typeface="Arial"/>
              </a:rPr>
              <a:t>🎙️ Presenter: Strategic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Future Expansion &amp; Institutional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Scaling MITS Club Hub to support accreditation, event ticketing, and inter-college summits.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94A3B8"/>
                </a:solidFill>
                <a:latin typeface="Arial"/>
              </a:defRPr>
            </a:pPr>
            <a:r>
              <a:t>Slide 19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2D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29260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📱  QR Event Attendance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2926080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Phase 2 Feature:</a:t>
            </a:r>
            <a:r>
              <a:rPr sz="1050">
                <a:solidFill>
                  <a:srgbClr val="CBD5E1"/>
                </a:solidFill>
              </a:rPr>
              <a:t> Dynamic QR check-in scanner for club orientations and hackathons.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Attendance Logging:</a:t>
            </a:r>
            <a:r>
              <a:rPr sz="1050">
                <a:solidFill>
                  <a:srgbClr val="CBD5E1"/>
                </a:solidFill>
              </a:rPr>
              <a:t> Records verified student roll numbers directly into Firestore.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Certificate Issuance:</a:t>
            </a:r>
            <a:r>
              <a:rPr sz="1050">
                <a:solidFill>
                  <a:srgbClr val="CBD5E1"/>
                </a:solidFill>
              </a:rPr>
              <a:t> Automated digital participation certificates for verified attendees.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011680"/>
            <a:ext cx="29260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📊  NAAC / NIRF Reporting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468880"/>
            <a:ext cx="2926080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Institutional Utility:</a:t>
            </a:r>
            <a:r>
              <a:rPr sz="1050">
                <a:solidFill>
                  <a:srgbClr val="CBD5E1"/>
                </a:solidFill>
              </a:rPr>
              <a:t> 1-click automated PDF export for college administration.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Audit Metrics:</a:t>
            </a:r>
            <a:r>
              <a:rPr sz="1050">
                <a:solidFill>
                  <a:srgbClr val="CBD5E1"/>
                </a:solidFill>
              </a:rPr>
              <a:t> Summarizes active student participation, event counts, and faculty mentorship.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Compliance:</a:t>
            </a:r>
            <a:r>
              <a:rPr sz="1050">
                <a:solidFill>
                  <a:srgbClr val="CBD5E1"/>
                </a:solidFill>
              </a:rPr>
              <a:t> Aligns with NAAC Criteria 5 (Student Support &amp; Progression).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011680"/>
            <a:ext cx="29260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🎟️  Integrated Event Ticketing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468880"/>
            <a:ext cx="2926080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Campus Commerce:</a:t>
            </a:r>
            <a:r>
              <a:rPr sz="1050">
                <a:solidFill>
                  <a:srgbClr val="CBD5E1"/>
                </a:solidFill>
              </a:rPr>
              <a:t> UPI QR payment verification for paid college fest passes and merchandise.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Cryptographic Tickets:</a:t>
            </a:r>
            <a:r>
              <a:rPr sz="1050">
                <a:solidFill>
                  <a:srgbClr val="CBD5E1"/>
                </a:solidFill>
              </a:rPr>
              <a:t> Digital QR entry tickets prevent ticket duplication.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Financial Auditing:</a:t>
            </a:r>
            <a:r>
              <a:rPr sz="1050">
                <a:solidFill>
                  <a:srgbClr val="CBD5E1"/>
                </a:solidFill>
              </a:rPr>
              <a:t> Real-time collection reports visible to faculty coordinators.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MITS CLUB HUB • Madhav Institute of Technology &amp; Science, Gwalior (Deemed University) • mitsgwlclubhub.com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[DEFENSE CLOSING]  </a:t>
            </a:r>
            <a:r>
              <a:rPr sz="1000" b="1">
                <a:solidFill>
                  <a:srgbClr val="A855F7"/>
                </a:solidFill>
                <a:latin typeface="Arial"/>
              </a:rPr>
              <a:t>🎙️ Presenter: Full Team (Closing &amp; Q&amp;A)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Acknowledgments, Project Credits &amp;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Thank you for your guidance, mentorship, and support.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94A3B8"/>
                </a:solidFill>
                <a:latin typeface="Arial"/>
              </a:defRPr>
            </a:pPr>
            <a:r>
              <a:t>Slide 20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2D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7548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👨‍💻  Core Engineering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4754880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Akash Dhakad:</a:t>
            </a:r>
            <a:r>
              <a:rPr sz="1050">
                <a:solidFill>
                  <a:srgbClr val="CBD5E1"/>
                </a:solidFill>
              </a:rPr>
              <a:t> Lead Architect, Domain RBAC, 2FA Phone SMS, SPA Routing &amp; Cloud Firestore Engine.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Alok Mahor:</a:t>
            </a:r>
            <a:r>
              <a:rPr sz="1050">
                <a:solidFill>
                  <a:srgbClr val="CBD5E1"/>
                </a:solidFill>
              </a:rPr>
              <a:t> Club Field Research (10+ Clubs), 3D Filter Console, Showcase Narrative Architecture.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Aman Singh:</a:t>
            </a:r>
            <a:r>
              <a:rPr sz="1050">
                <a:solidFill>
                  <a:srgbClr val="CBD5E1"/>
                </a:solidFill>
              </a:rPr>
              <a:t> Recruitment Pipeline, Membership Engine, President Command Center &amp; Handover Protocol.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Akash Gupta:</a:t>
            </a:r>
            <a:r>
              <a:rPr sz="1050">
                <a:solidFill>
                  <a:srgbClr val="CBD5E1"/>
                </a:solidFill>
              </a:rPr>
              <a:t> Faculty Approval Queue, Multi-Channel Mentor Notification Dispatcher, Contact Sheet.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11680"/>
            <a:ext cx="47548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🙏  Academic Mentorship &amp; Live Links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68880"/>
            <a:ext cx="4754880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Faculty Guide:</a:t>
            </a:r>
            <a:r>
              <a:rPr sz="1050">
                <a:solidFill>
                  <a:srgbClr val="CBD5E1"/>
                </a:solidFill>
              </a:rPr>
              <a:t> Prof. [ ________________________ ]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Head of Department (HOD):</a:t>
            </a:r>
            <a:r>
              <a:rPr sz="1050">
                <a:solidFill>
                  <a:srgbClr val="CBD5E1"/>
                </a:solidFill>
              </a:rPr>
              <a:t> Dr. [ ________________________ ]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Department:</a:t>
            </a:r>
            <a:r>
              <a:rPr sz="1050">
                <a:solidFill>
                  <a:srgbClr val="CBD5E1"/>
                </a:solidFill>
              </a:rPr>
              <a:t> Department of Artificial Intelligence &amp; Data Science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Institution:</a:t>
            </a:r>
            <a:r>
              <a:rPr sz="1050">
                <a:solidFill>
                  <a:srgbClr val="CBD5E1"/>
                </a:solidFill>
              </a:rPr>
              <a:t> Madhav Institute of Technology &amp; Science (MITS), Gwalior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Live Production Portal:</a:t>
            </a:r>
            <a:r>
              <a:rPr sz="1050">
                <a:solidFill>
                  <a:srgbClr val="CBD5E1"/>
                </a:solidFill>
              </a:rPr>
              <a:t> https://mits-gwl-club-hub.netlify.app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▹ GitHub Repository:</a:t>
            </a:r>
            <a:r>
              <a:rPr sz="1050">
                <a:solidFill>
                  <a:srgbClr val="CBD5E1"/>
                </a:solidFill>
              </a:rPr>
              <a:t> https://github.com/akashcyber02/mits-club-hub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CBD5E1"/>
                </a:solidFill>
              </a:rPr>
              <a:t>▹ Ready for Questions &amp; Live Interactive Demonstration!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MITS CLUB HUB • Madhav Institute of Technology &amp; Science, Gwalior (Deemed University) • mitsgwlclubhub.com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